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7" r:id="rId3"/>
    <p:sldId id="349" r:id="rId5"/>
    <p:sldId id="259" r:id="rId6"/>
    <p:sldId id="310" r:id="rId7"/>
    <p:sldId id="291" r:id="rId8"/>
    <p:sldId id="281" r:id="rId9"/>
    <p:sldId id="265" r:id="rId10"/>
    <p:sldId id="272" r:id="rId11"/>
    <p:sldId id="274" r:id="rId12"/>
    <p:sldId id="309" r:id="rId13"/>
    <p:sldId id="333" r:id="rId14"/>
    <p:sldId id="334" r:id="rId15"/>
    <p:sldId id="335" r:id="rId16"/>
    <p:sldId id="337" r:id="rId17"/>
    <p:sldId id="338" r:id="rId18"/>
    <p:sldId id="302" r:id="rId19"/>
    <p:sldId id="324" r:id="rId20"/>
    <p:sldId id="323" r:id="rId21"/>
    <p:sldId id="322" r:id="rId22"/>
    <p:sldId id="328" r:id="rId23"/>
    <p:sldId id="327" r:id="rId24"/>
    <p:sldId id="325" r:id="rId25"/>
    <p:sldId id="331" r:id="rId26"/>
  </p:sldIdLst>
  <p:sldSz cx="12192000" cy="6858000"/>
  <p:notesSz cx="6858000" cy="9144000"/>
  <p:embeddedFontLst>
    <p:embeddedFont>
      <p:font typeface="Segoe UI" panose="020B0502040204020203" pitchFamily="34" charset="0"/>
      <p:regular r:id="rId31"/>
    </p:embeddedFont>
    <p:embeddedFont>
      <p:font typeface="Calibri" panose="020F0502020204030204" charset="0"/>
      <p:regular r:id="rId32"/>
    </p:embeddedFont>
  </p:embeddedFontLst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214.xml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2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image" Target="../media/image5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../media/image6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image" Target="../media/image7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8.png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image" Target="../media/image4.png"/><Relationship Id="rId2" Type="http://schemas.openxmlformats.org/officeDocument/2006/relationships/tags" Target="../tags/tag11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image" Target="../media/image9.pn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52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325880" y="-1"/>
            <a:ext cx="9540240" cy="6858002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 rot="10800000">
            <a:off x="9092013" y="3758013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52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6"/>
            </p:custDataLst>
          </p:nvPr>
        </p:nvCxnSpPr>
        <p:spPr>
          <a:xfrm>
            <a:off x="4706112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7"/>
            </p:custDataLst>
          </p:nvPr>
        </p:nvCxnSpPr>
        <p:spPr>
          <a:xfrm>
            <a:off x="6041136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8"/>
            </p:custDataLst>
          </p:nvPr>
        </p:nvCxnSpPr>
        <p:spPr>
          <a:xfrm>
            <a:off x="7437120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409026" y="2819632"/>
            <a:ext cx="7373947" cy="1015663"/>
          </a:xfrm>
        </p:spPr>
        <p:txBody>
          <a:bodyPr lIns="90000" tIns="46800" rIns="90000" bIns="0" anchor="t" anchorCtr="0">
            <a:normAutofit/>
          </a:bodyPr>
          <a:lstStyle>
            <a:lvl1pPr algn="ctr">
              <a:defRPr sz="6000" spc="600">
                <a:solidFill>
                  <a:schemeClr val="bg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3008741" y="3922261"/>
            <a:ext cx="6174517" cy="95866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accent6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3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462585" y="1752600"/>
            <a:ext cx="6729415" cy="5105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33794" y="3297196"/>
            <a:ext cx="4570106" cy="785343"/>
          </a:xfrm>
        </p:spPr>
        <p:txBody>
          <a:bodyPr lIns="90000" tIns="46800" rIns="90000" bIns="0" anchor="t" anchorCtr="0">
            <a:normAutofit/>
          </a:bodyPr>
          <a:lstStyle>
            <a:lvl1pPr>
              <a:defRPr sz="4000" u="none" strike="noStrike" kern="1200" cap="none" spc="300" normalizeH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1233794" y="4162793"/>
            <a:ext cx="5014606" cy="785343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7510630" y="3306388"/>
            <a:ext cx="4681370" cy="3551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000" tIns="46800" rIns="90000" bIns="46800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 lIns="90000" tIns="46800" rIns="90000" bIns="468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325880" y="-1"/>
            <a:ext cx="9540240" cy="6858002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 rot="10800000">
            <a:off x="9092013" y="3758013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4706112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7"/>
            </p:custDataLst>
          </p:nvPr>
        </p:nvCxnSpPr>
        <p:spPr>
          <a:xfrm>
            <a:off x="6041136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8"/>
            </p:custDataLst>
          </p:nvPr>
        </p:nvCxnSpPr>
        <p:spPr>
          <a:xfrm>
            <a:off x="7437120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409027" y="2819632"/>
            <a:ext cx="7373946" cy="1015663"/>
          </a:xfrm>
        </p:spPr>
        <p:txBody>
          <a:bodyPr vert="horz" lIns="90000" tIns="46800" rIns="9000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008313" y="3895725"/>
            <a:ext cx="6175375" cy="958850"/>
          </a:xfrm>
        </p:spPr>
        <p:txBody>
          <a:bodyPr lIns="90000" tIns="0" rIns="90000" bIns="4680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0782300" y="5788504"/>
            <a:ext cx="1409700" cy="10694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lIns="90000" tIns="46800" rIns="90000" bIns="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75000">
                <a:schemeClr val="accent1">
                  <a:lumMod val="75000"/>
                </a:schemeClr>
              </a:gs>
              <a:gs pos="35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-4077"/>
            <a:ext cx="2014154" cy="15280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177846" y="5329923"/>
            <a:ext cx="2014154" cy="15280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59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flipH="1">
            <a:off x="0" y="5648325"/>
            <a:ext cx="1594469" cy="12096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lIns="90000" tIns="46800" rIns="90000" bIns="0"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-4078"/>
            <a:ext cx="1828800" cy="13874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lIns="90000" tIns="46800" rIns="90000" bIns="0"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/>
          <a:lstStyle>
            <a:lvl1pPr algn="ctr"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678718" y="5709920"/>
            <a:ext cx="1513281" cy="11480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lIns="90000" tIns="46800" rIns="90000" bIns="0"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0782300" y="5788504"/>
            <a:ext cx="1409700" cy="1069496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 lIns="90000" tIns="46800" rIns="90000" bIns="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74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9045962" y="4471198"/>
            <a:ext cx="3146037" cy="23868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0"/>
            <a:ext cx="3146037" cy="23868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0"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/>
          <a:lstStyle>
            <a:lvl1pPr algn="ctr"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28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03.xml"/><Relationship Id="rId3" Type="http://schemas.openxmlformats.org/officeDocument/2006/relationships/image" Target="NULL" TargetMode="External"/><Relationship Id="rId2" Type="http://schemas.openxmlformats.org/officeDocument/2006/relationships/image" Target="../media/image10.png"/><Relationship Id="rId1" Type="http://schemas.openxmlformats.org/officeDocument/2006/relationships/tags" Target="../tags/tag20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05.xml"/><Relationship Id="rId2" Type="http://schemas.openxmlformats.org/officeDocument/2006/relationships/image" Target="../media/image11.png"/><Relationship Id="rId1" Type="http://schemas.openxmlformats.org/officeDocument/2006/relationships/tags" Target="../tags/tag204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tags" Target="../tags/tag206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3.xml"/><Relationship Id="rId2" Type="http://schemas.openxmlformats.org/officeDocument/2006/relationships/image" Target="../media/image12.jpeg"/><Relationship Id="rId1" Type="http://schemas.openxmlformats.org/officeDocument/2006/relationships/tags" Target="../tags/tag2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840479" y="1929432"/>
            <a:ext cx="45110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en-US" altLang="zh-CN" sz="4400" dirty="0">
                <a:solidFill>
                  <a:schemeClr val="bg1"/>
                </a:solidFill>
                <a:effectLst>
                  <a:outerShdw blurRad="177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2026</a:t>
            </a:r>
            <a:endParaRPr lang="zh-CN" altLang="en-US" sz="4400" dirty="0">
              <a:solidFill>
                <a:schemeClr val="bg1"/>
              </a:solidFill>
              <a:effectLst>
                <a:outerShdw blurRad="177800" dist="635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409026" y="2819632"/>
            <a:ext cx="7373947" cy="1015663"/>
          </a:xfrm>
        </p:spPr>
        <p:txBody>
          <a:bodyPr>
            <a:normAutofit/>
          </a:bodyPr>
          <a:lstStyle/>
          <a:p>
            <a:r>
              <a:rPr lang="zh-TW" altLang="en-US">
                <a:sym typeface="Arial" panose="020B0604020202090204" pitchFamily="34" charset="0"/>
              </a:rPr>
              <a:t>全球半导体展望</a:t>
            </a:r>
            <a:endParaRPr lang="zh-TW" altLang="en-US">
              <a:sym typeface="Arial" panose="020B060402020209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008741" y="4593456"/>
            <a:ext cx="6174517" cy="958660"/>
          </a:xfrm>
        </p:spPr>
        <p:txBody>
          <a:bodyPr/>
          <a:lstStyle/>
          <a:p>
            <a:r>
              <a:rPr lang="en-US" altLang="zh-CN">
                <a:sym typeface="Arial" panose="020B0604020202090204" pitchFamily="34" charset="0"/>
              </a:rPr>
              <a:t>Leslie Wu 2026.01.15 </a:t>
            </a:r>
            <a:endParaRPr lang="en-US" altLang="zh-CN">
              <a:sym typeface="Arial" panose="020B060402020209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104900" y="2793365"/>
            <a:ext cx="6169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01</a:t>
            </a:r>
            <a:endParaRPr lang="zh-CN" altLang="en-US" b="1" spc="1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597938" y="2793365"/>
            <a:ext cx="3092141" cy="442169"/>
          </a:xfrm>
          <a:prstGeom prst="rect">
            <a:avLst/>
          </a:prstGeom>
          <a:noFill/>
        </p:spPr>
        <p:txBody>
          <a:bodyPr wrap="square" tIns="46800" bIns="0" rtlCol="0">
            <a:normAutofit/>
          </a:bodyPr>
          <a:lstStyle/>
          <a:p>
            <a:r>
              <a:rPr lang="zh-TW" altLang="en-US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26&amp;27</a:t>
            </a:r>
            <a:r>
              <a:rPr lang="zh-TW" altLang="en-US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展望</a:t>
            </a:r>
            <a:endParaRPr lang="zh-TW" altLang="en-US" b="1" spc="1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3"/>
            </p:custDataLst>
          </p:nvPr>
        </p:nvSpPr>
        <p:spPr>
          <a:xfrm>
            <a:off x="5235606" y="2835910"/>
            <a:ext cx="6169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02</a:t>
            </a:r>
            <a:endParaRPr lang="zh-CN" altLang="en-US" b="1" spc="1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4"/>
            </p:custDataLst>
          </p:nvPr>
        </p:nvSpPr>
        <p:spPr>
          <a:xfrm>
            <a:off x="5672764" y="2835910"/>
            <a:ext cx="3092141" cy="442169"/>
          </a:xfrm>
          <a:prstGeom prst="rect">
            <a:avLst/>
          </a:prstGeom>
          <a:noFill/>
        </p:spPr>
        <p:txBody>
          <a:bodyPr wrap="square" tIns="46800" bIns="0" rtlCol="0">
            <a:normAutofit/>
          </a:bodyPr>
          <a:lstStyle/>
          <a:p>
            <a:r>
              <a:rPr lang="zh-TW" altLang="zh-CN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CoWoS</a:t>
            </a:r>
            <a:r>
              <a:rPr lang="zh-TW" altLang="en-US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与全球</a:t>
            </a:r>
            <a:r>
              <a:rPr lang="en-US" altLang="zh-TW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AI</a:t>
            </a:r>
            <a:endParaRPr lang="zh-TW" altLang="en-US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1104900" y="4226995"/>
            <a:ext cx="6169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03</a:t>
            </a:r>
            <a:endParaRPr lang="zh-CN" altLang="en-US" b="1" spc="1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6"/>
            </p:custDataLst>
          </p:nvPr>
        </p:nvSpPr>
        <p:spPr>
          <a:xfrm>
            <a:off x="1597938" y="4226994"/>
            <a:ext cx="3092141" cy="442169"/>
          </a:xfrm>
          <a:prstGeom prst="rect">
            <a:avLst/>
          </a:prstGeom>
          <a:noFill/>
        </p:spPr>
        <p:txBody>
          <a:bodyPr wrap="square" tIns="46800" bIns="0" rtlCol="0">
            <a:normAutofit/>
          </a:bodyPr>
          <a:lstStyle/>
          <a:p>
            <a:r>
              <a:rPr lang="zh-TW" altLang="en-US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全球存储芯片产能与价格</a:t>
            </a:r>
            <a:endParaRPr lang="zh-TW" altLang="en-US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7"/>
            </p:custDataLst>
          </p:nvPr>
        </p:nvSpPr>
        <p:spPr>
          <a:xfrm>
            <a:off x="5235606" y="4226995"/>
            <a:ext cx="6169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spc="150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04</a:t>
            </a:r>
            <a:endParaRPr lang="zh-CN" altLang="en-US" b="1" spc="150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8"/>
            </p:custDataLst>
          </p:nvPr>
        </p:nvSpPr>
        <p:spPr>
          <a:xfrm>
            <a:off x="5672764" y="4226994"/>
            <a:ext cx="3092141" cy="442169"/>
          </a:xfrm>
          <a:prstGeom prst="rect">
            <a:avLst/>
          </a:prstGeom>
          <a:noFill/>
        </p:spPr>
        <p:txBody>
          <a:bodyPr wrap="square" tIns="46800" bIns="0" rtlCol="0">
            <a:normAutofit/>
          </a:bodyPr>
          <a:lstStyle/>
          <a:p>
            <a:r>
              <a:rPr lang="zh-TW" altLang="en-US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中国产能扩张</a:t>
            </a:r>
            <a:r>
              <a:rPr lang="en-US" altLang="zh-TW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26&amp;27</a:t>
            </a:r>
            <a:endParaRPr lang="en-US" altLang="zh-TW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597898" y="1248676"/>
            <a:ext cx="1844686" cy="76944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zh-CN" altLang="en-US" sz="4400" b="1" spc="150" dirty="0">
                <a:solidFill>
                  <a:schemeClr val="bg1"/>
                </a:solidFill>
                <a:latin typeface="Arial" panose="020B0604020202090204" pitchFamily="34" charset="0"/>
                <a:ea typeface="汉仪旗黑-85S" panose="00020600040101010101" pitchFamily="18" charset="-122"/>
                <a:sym typeface="Arial" panose="020B0604020202090204" pitchFamily="34" charset="0"/>
              </a:rPr>
              <a:t>目录</a:t>
            </a:r>
            <a:endParaRPr lang="zh-CN" altLang="en-US" sz="4400" b="1" spc="150" dirty="0">
              <a:solidFill>
                <a:schemeClr val="bg1"/>
              </a:solidFill>
              <a:latin typeface="Arial" panose="020B0604020202090204" pitchFamily="34" charset="0"/>
              <a:ea typeface="汉仪旗黑-85S" panose="00020600040101010101" pitchFamily="18" charset="-122"/>
              <a:sym typeface="Arial" panose="020B060402020209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1597898" y="2001328"/>
            <a:ext cx="1844686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en-US" altLang="zh-CN" b="1" spc="15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CONTENTS</a:t>
            </a:r>
            <a:endParaRPr lang="en-US" altLang="zh-CN" b="1" spc="15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01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TW" altLang="zh-CN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26&amp;27</a:t>
            </a:r>
            <a:r>
              <a:rPr lang="zh-TW" altLang="en-US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展望</a:t>
            </a:r>
            <a:endParaRPr lang="zh-TW" altLang="en-US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529273" y="40005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产能规划</a:t>
            </a: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25-27</a:t>
            </a:r>
            <a:endParaRPr altLang="zh-TW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590" y="5724525"/>
            <a:ext cx="7861935" cy="1045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1.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各厂实际进度有小部分会跨越不同年分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,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本表格不做改动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 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2.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日本熊本二厂可能更改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制程，目前未定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3.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每年产能为该年某月最高产能，并非平均产能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08965" y="1210310"/>
          <a:ext cx="7782560" cy="4191000"/>
        </p:xfrm>
        <a:graphic>
          <a:graphicData uri="http://schemas.openxmlformats.org/drawingml/2006/table">
            <a:tbl>
              <a:tblPr/>
              <a:tblGrid>
                <a:gridCol w="700405"/>
                <a:gridCol w="544195"/>
                <a:gridCol w="545465"/>
                <a:gridCol w="544830"/>
                <a:gridCol w="544830"/>
                <a:gridCol w="544830"/>
                <a:gridCol w="544195"/>
                <a:gridCol w="544830"/>
                <a:gridCol w="544830"/>
                <a:gridCol w="544830"/>
                <a:gridCol w="545465"/>
                <a:gridCol w="544195"/>
                <a:gridCol w="544830"/>
                <a:gridCol w="544830"/>
              </a:tblGrid>
              <a:tr h="381000">
                <a:tc gridSpan="12"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产能规划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2025-2035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2026 . 01 . 15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Fab18A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P1~P4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Fab18B 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P5~P9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Fab20A 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P1~P4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Fab21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Fab21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Fab21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Fab2X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P1~P4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Fab22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P1~P3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Fab22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P4~P5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Fab23A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Fab23B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Fab25A P1~P4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地点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新竹宝山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凤凰城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凤凰城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凤凰城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凤凰城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高雄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高雄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日本熊本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日本熊本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德国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规划产能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nodes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5/4nm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3nm/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2nm/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3/2nm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N2/A16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A16~A7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28/12nm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40~7nm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28/12nm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预计量产时间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2030~2035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kwpm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土建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动土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动土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kwpm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封顶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kwpm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动土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kwpm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kwpm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593455" y="1210945"/>
            <a:ext cx="3316605" cy="4512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2nm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产能将在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3Q26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达到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100k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3Q27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达到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150k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，均为满产满销状态。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Fab18A&amp;Fab18B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共线生产，极限大约可拉高到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160k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3nm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2026Q3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后产能略微不足，会再加入其他先进制程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fab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协助。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亚利桑那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Fab21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全面加速应对未来产能不足，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P2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2027Q2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量产，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P3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2028Q3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末。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5: 2028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A14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正式量产，预计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2028Q3 A14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产能为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80k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，苹果独享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765" y="259715"/>
            <a:ext cx="10873105" cy="55435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制程营收占比变化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0055" y="5953125"/>
            <a:ext cx="7362190" cy="7385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本模型为所有产生营收各项目占总营收的比例，与台积电官方只计算前段制程销售占比口径不同，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本模型包含先进封装以及其他业务的总营收占比，所以先进制程的占比会略低于官方只考虑制程之间的占比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58165" y="875030"/>
          <a:ext cx="7244715" cy="5016500"/>
        </p:xfrm>
        <a:graphic>
          <a:graphicData uri="http://schemas.openxmlformats.org/drawingml/2006/table">
            <a:tbl>
              <a:tblPr/>
              <a:tblGrid>
                <a:gridCol w="724535"/>
                <a:gridCol w="490220"/>
                <a:gridCol w="539115"/>
                <a:gridCol w="539115"/>
                <a:gridCol w="29210"/>
                <a:gridCol w="751205"/>
                <a:gridCol w="529590"/>
                <a:gridCol w="473710"/>
                <a:gridCol w="539750"/>
                <a:gridCol w="29210"/>
                <a:gridCol w="900430"/>
                <a:gridCol w="556895"/>
                <a:gridCol w="529590"/>
                <a:gridCol w="612140"/>
              </a:tblGrid>
              <a:tr h="378460">
                <a:tc gridSpan="4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（成熟制程）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p>
                      <a:pPr algn="ctr" fontAlgn="ctr"/>
                      <a:endParaRPr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（先进制程）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p>
                      <a:pPr algn="ctr" fontAlgn="ctr"/>
                      <a:endParaRPr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（先进封装与其他）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755"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0.18um/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0.15um/bn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3.56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3.43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7nm/bn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14.89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14.09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15.1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先进封装  </a:t>
                      </a: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CoWoS/CPO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6.44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17.9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2.2%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1.7%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12.2%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7.7%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5.3%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9.1%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0.11um/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0.13um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1.65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1.34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1.28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39.54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Tape out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掩膜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0025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1.3%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32.3%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21.9%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3.1%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2.7%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0.95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1.02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0.98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39.95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51.12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PDK/IP/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OIP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服务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24.3%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25.9%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4699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3.86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4.32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2nm/A16/bn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46.81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0025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2.2%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14.1%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23.7%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40/45nm/bn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3.04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3.34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3.31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1.4nm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1.7%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7.33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7.88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7.77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1.0nm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3.9%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16/20nm/bn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7.18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0.7nm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5.8%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4.4%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3.6%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成熟制程营收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27.1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28.7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28.3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先进制程营收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79.7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113.3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138.2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先进封装与其他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15.7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22.7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30.7 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成熟制程占比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22.1%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17.4%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14.3%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先进制程占比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65.0%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68.8%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70.1%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先进封装与其他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12.8%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13.8%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15.6%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929880" y="976630"/>
            <a:ext cx="4072255" cy="4975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3nm+5nm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两节点在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2025~2027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将受到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（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blackwell+rubin)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的带动持续双节点供不应求。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2nm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节点在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年开始贡献营收，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26&amp;27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先供货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SoC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以及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CPU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Feynman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开始采用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背供电版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A16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制程，届时整个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产能将超过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200k+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，供不应求的状态将持续维持。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先进封装的年增率高于所有先进制程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2024-2027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由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带动，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年加入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CPO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年以后由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CoPoS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＋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CPO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双引擎带动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765" y="529590"/>
            <a:ext cx="10873105" cy="72644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zh-CN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台积电业绩预估</a:t>
            </a:r>
            <a:endParaRPr lang="zh-TW" altLang="zh-CN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821055" y="1378585"/>
          <a:ext cx="10194925" cy="3553460"/>
        </p:xfrm>
        <a:graphic>
          <a:graphicData uri="http://schemas.openxmlformats.org/drawingml/2006/table">
            <a:tbl>
              <a:tblPr/>
              <a:tblGrid>
                <a:gridCol w="825500"/>
                <a:gridCol w="937260"/>
                <a:gridCol w="936625"/>
                <a:gridCol w="937260"/>
                <a:gridCol w="936625"/>
                <a:gridCol w="937260"/>
                <a:gridCol w="936625"/>
                <a:gridCol w="937260"/>
                <a:gridCol w="936625"/>
                <a:gridCol w="937260"/>
                <a:gridCol w="936625"/>
              </a:tblGrid>
              <a:tr h="375920">
                <a:tc gridSpan="9">
                  <a:txBody>
                    <a:bodyPr/>
                    <a:p>
                      <a:pPr algn="l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业绩预估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  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2026.01.10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7025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43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15.7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-10.0%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17.3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-14.6%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19.6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69.3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-4.5%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639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1369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20.8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23.5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26.8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36.8%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89.9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29.8%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2639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70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25.5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30.0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44.4%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33.1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40.7%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33.7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25.8%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122.3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9464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270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35.3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38.4%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38.6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28.6%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43.9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32.6%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47.1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39.7%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164.9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34.8%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94005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702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45.7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29.4%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46.9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21.5%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52.8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20.2%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55.4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17.7%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200.8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21.7%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1055" y="4932045"/>
            <a:ext cx="10194925" cy="1582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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带动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3nm+5nm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到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年双节点满产，重点是不跟旗舰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SoC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CPU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抢最先进的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，完全错峰的制程配置，让未来几年台积电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5/3/2nm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三个节点实现全部满产，创造最大营收可能。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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年全年毛利率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62%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～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64.5%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，主要是持续涨价，先进制程稼动率的持续提升，加上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工厂完全折旧完毕还能保持满产，扣除美国工厂对毛利率的负面影响整体毛利率将持续往上走。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年毛利率持平或微幅下滑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62%~63%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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2025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年净利润率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45%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年预计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49%+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有机会挑战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50%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全年净利润率，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年预计持平。</a:t>
            </a:r>
            <a:endParaRPr lang="en-US" altLang="zh-TW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42037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全球先进</a:t>
            </a:r>
            <a:r>
              <a:rPr altLang="zh-TW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Foundry MTr</a:t>
            </a:r>
            <a:r>
              <a:rPr lang="zh-TW" altLang="en-US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比较</a:t>
            </a:r>
            <a:endParaRPr lang="zh-TW" altLang="en-US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35010" y="1291590"/>
            <a:ext cx="3343910" cy="5059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CN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</a:t>
            </a:r>
            <a:r>
              <a:rPr lang="zh-TW" altLang="en-US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三大推出的最新制程分别为</a:t>
            </a:r>
            <a:endParaRPr lang="zh-TW" altLang="en-US" sz="1400" b="1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 N2 : 313MTr/mm2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Intel 18A : 230MTr/mm2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SS 2GAE : 200MTr/mm2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 A16 : 330MTr/mm2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 A14 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约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380MTr/mm2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Intel 14A 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约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280MTr/mm2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SS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未知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48005" y="1291590"/>
          <a:ext cx="7378700" cy="5101590"/>
        </p:xfrm>
        <a:graphic>
          <a:graphicData uri="http://schemas.openxmlformats.org/drawingml/2006/table">
            <a:tbl>
              <a:tblPr/>
              <a:tblGrid>
                <a:gridCol w="1008380"/>
                <a:gridCol w="1086485"/>
                <a:gridCol w="1208405"/>
                <a:gridCol w="1138555"/>
                <a:gridCol w="1047750"/>
                <a:gridCol w="932815"/>
                <a:gridCol w="956310"/>
              </a:tblGrid>
              <a:tr h="23241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14nm+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TSMC16/12nm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14LPP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UMC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GF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cell height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399nm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576nm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Fin Pitch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29/36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10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N10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10LPP/8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NP(10nm)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44.6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51.8/61.8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7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N7/N7+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7LPP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N+1/N+2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91/116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72/98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4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N5/N4P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5/4LPP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N+3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30/28nm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40/28nm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153/181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127/137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3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N3B/N3P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3GAE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N+4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放弃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210/230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130~135(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估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18A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 N2B/N2P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2GAE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TW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200+</a:t>
                      </a:r>
                      <a:endParaRPr lang="en-US" altLang="zh-TW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 A16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2nm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330(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未量产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02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TW" altLang="zh-CN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CoWoS</a:t>
            </a:r>
            <a:r>
              <a:rPr lang="zh-TW" altLang="en-US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与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AI</a:t>
            </a:r>
            <a:endParaRPr lang="en-US" altLang="zh-TW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765" y="318135"/>
            <a:ext cx="10873105" cy="71501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TSMC CoWoS</a:t>
            </a:r>
            <a:endParaRPr altLang="zh-TW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3585" y="5968365"/>
            <a:ext cx="8293100" cy="71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TW" altLang="en-US" sz="140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659765" y="1033145"/>
          <a:ext cx="7777480" cy="5266690"/>
        </p:xfrm>
        <a:graphic>
          <a:graphicData uri="http://schemas.openxmlformats.org/drawingml/2006/table">
            <a:tbl>
              <a:tblPr/>
              <a:tblGrid>
                <a:gridCol w="916940"/>
                <a:gridCol w="693420"/>
                <a:gridCol w="619760"/>
                <a:gridCol w="619125"/>
                <a:gridCol w="619125"/>
                <a:gridCol w="619125"/>
                <a:gridCol w="743585"/>
                <a:gridCol w="751205"/>
                <a:gridCol w="2195195"/>
              </a:tblGrid>
              <a:tr h="293370">
                <a:tc gridSpan="9"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CoWoS Capacity &amp; booking 2026-2027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9705">
                <a:tc rowSpan="2">
                  <a:txBody>
                    <a:bodyPr/>
                    <a:p>
                      <a:pPr algn="ctr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REMARK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784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702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Nvidia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130,000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630,000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Hopper10%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Blackwell60%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Rubin30%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56134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Broadcom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Google TPU v6 &amp; TPU v7p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65%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Meta-Mtia v2 &amp; v3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：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Open AI Titan (N3) Q4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出货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5-10%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Tomahawk 6 Swtich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：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5-10%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AMD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2026: Mi300 series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约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35%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Mi400 series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约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9972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Marvell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AWS-Trainium 2 (N5)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Microsoft -Maia 200 (N3E)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2418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Al chip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AWS-Trainium 1 &amp; 3 Anita (N3)</a:t>
                      </a:r>
                      <a:b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AWS-Inferentia 2 (N7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b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Gaudi 3 (N5)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MS-Maia 100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N5)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891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Annapurna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AWS-Trainium 3 Mariana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955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MTK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TPU7 v7e (single die)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891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Cisco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Silicon One series Swtich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955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Xilinx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Virtex UltraScale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891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Mircosoft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Athena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955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GUC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第三方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tape out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Sanechips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ZXR10-9900X Swtich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- Head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PPU 2025 ban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Baidu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Kunlen 2 (5nm) / 2025 ban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Tencent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Zixiao v2(5nm) / 2025 ban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MetaX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C500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降规版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C280 / 2025 ban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98450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682,000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209,000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231,500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316,500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359,000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1,115,000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1,693,000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实际生产数量</a:t>
                      </a:r>
                      <a:endParaRPr lang="zh-CN" altLang="en-US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</a:tr>
              <a:tr h="365125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1,120,000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1,620,000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年底有效产能 </a:t>
                      </a: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118 kwpm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年底有效产能 </a:t>
                      </a: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 kwpm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8EA9DB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593455" y="1033145"/>
            <a:ext cx="3316605" cy="51555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Anthropic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向博通采购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210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亿美元的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TPU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含整机柜，约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TPU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，博通像台积追加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4~4.5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CoWoS-L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，预计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2026Q2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开始交付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Xilinx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因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不断涨价而转向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IoFO_LSI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，只剩下最高端的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Virtex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采用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2028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年转入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CoPoS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，届时新建的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将闲置，导致台积电扩产意愿不高，每月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150k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之后将不再扩产，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CoWoS-S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将大部分转给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OSAT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苹果自研推理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ASIC Baltra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已经交由博通流片，预计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年开始部署，博通负责高速互联，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SerDes IP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以及后段布线</a:t>
            </a: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307340" y="606425"/>
            <a:ext cx="4346575" cy="222631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台</a:t>
            </a:r>
            <a:r>
              <a:rPr altLang="zh-TW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积</a:t>
            </a:r>
            <a:r>
              <a:rPr altLang="zh-TW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电</a:t>
            </a:r>
            <a:endParaRPr lang="zh-TW" altLang="en-US" sz="28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CN" sz="24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 </a:t>
            </a:r>
            <a:r>
              <a:rPr altLang="zh-CN" sz="24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accelerator products</a:t>
            </a:r>
            <a:endParaRPr altLang="zh-CN" sz="24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营</a:t>
            </a:r>
            <a:r>
              <a:rPr altLang="zh-TW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收</a:t>
            </a:r>
            <a:r>
              <a:rPr altLang="zh-TW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r>
              <a:rPr altLang="zh-CN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拆</a:t>
            </a:r>
            <a:endParaRPr lang="zh-CN" altLang="en-US" sz="28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32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" y="2587625"/>
            <a:ext cx="4346575" cy="3811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台积电营收中未明确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范围，在台积电的应用中归类为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HPC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，但有些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产品又未归属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HPC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CoPoS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跟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CPO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开始贡献业绩，并在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2028-2030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的三年呈现极高增长。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魏说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加速器产品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年营收占比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15~17%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加速器的复合增长率高达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55%+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依照本模型基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2028/29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两年复合增长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25%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，即可达成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CC</a:t>
            </a:r>
            <a:endParaRPr lang="en-US" altLang="zh-TW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 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魏的目标。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以照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魏所说，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加速器营收将超过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亿美元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018405" y="534035"/>
          <a:ext cx="6337935" cy="5811520"/>
        </p:xfrm>
        <a:graphic>
          <a:graphicData uri="http://schemas.openxmlformats.org/drawingml/2006/table">
            <a:tbl>
              <a:tblPr/>
              <a:tblGrid>
                <a:gridCol w="1666240"/>
                <a:gridCol w="1168400"/>
                <a:gridCol w="1167130"/>
                <a:gridCol w="1167765"/>
                <a:gridCol w="1168400"/>
              </a:tblGrid>
              <a:tr h="298450">
                <a:tc gridSpan="5">
                  <a:txBody>
                    <a:bodyPr/>
                    <a:p>
                      <a:pPr algn="l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台积电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营收分拆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总量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1,150,000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asp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2,400,000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6,120,000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10,925,000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16,200,000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6256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前段 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single die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12,800,000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29,520,000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44,850,000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59,940,000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需要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336,842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776,842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1,245,833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1,712,571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前段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5,052,632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13,206,316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26,162,500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41,101,714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die + cowos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7,452,632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19,326,316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37,087,500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57,301,714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159.32%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91.90%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54.50%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CPU /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67,368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129,474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207,639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285,429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1,347,368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2,848,421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5,606,250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8,562,857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30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流片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服务费用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开案数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asp/k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305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2,560,000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1,700,000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1,800,000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swtich/serdes wafer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27,500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305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1,320,000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2,340,000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557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L40/L4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等非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 AI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片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1,725,000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2,125,000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3,150,000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4,440,000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 controller + phy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367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1,890,000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252,000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621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pcie/retimer/dpu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等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305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405,000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1,080,000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143,000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CoPoS/CPO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 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bn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14.46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28.52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51.93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75.76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54940">
                <a:tc>
                  <a:txBody>
                    <a:bodyPr/>
                    <a:p>
                      <a:pPr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营收增长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97.3%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82.1%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45.9%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9865">
                <a:tc>
                  <a:txBody>
                    <a:bodyPr/>
                    <a:p>
                      <a:pPr algn="l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台积电总营收 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bn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89.9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120.6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152.1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193.6 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201930">
                <a:tc>
                  <a:txBody>
                    <a:bodyPr/>
                    <a:p>
                      <a:pPr algn="l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 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16.1%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23.6%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34.2%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39.1%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03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微软雅黑" charset="0"/>
                <a:ea typeface="微软雅黑" charset="0"/>
                <a:sym typeface="Arial" panose="020B0604020202090204" pitchFamily="34" charset="0"/>
              </a:rPr>
              <a:t>全球存储</a:t>
            </a:r>
            <a:endParaRPr lang="zh-TW" altLang="en-US"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85470" y="1130935"/>
          <a:ext cx="7254240" cy="1257300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  <a:gridCol w="1036320"/>
                <a:gridCol w="1036320"/>
                <a:gridCol w="1036320"/>
                <a:gridCol w="1036320"/>
              </a:tblGrid>
              <a:tr h="251460">
                <a:tc gridSpan="7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產能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066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26.6%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33.3%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美光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-7.5%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129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8.6%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585470" y="2880995"/>
          <a:ext cx="7254240" cy="962660"/>
        </p:xfrm>
        <a:graphic>
          <a:graphicData uri="http://schemas.openxmlformats.org/drawingml/2006/table">
            <a:tbl>
              <a:tblPr/>
              <a:tblGrid>
                <a:gridCol w="2072640"/>
                <a:gridCol w="1036320"/>
                <a:gridCol w="1036320"/>
                <a:gridCol w="1036320"/>
                <a:gridCol w="1036320"/>
                <a:gridCol w="1036320"/>
              </a:tblGrid>
              <a:tr h="292100">
                <a:tc gridSpan="6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位元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增长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3520"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2352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18-20%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25-28%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18-20%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20-22%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16-18%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2352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传统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81660" y="4336415"/>
          <a:ext cx="7258050" cy="1594485"/>
        </p:xfrm>
        <a:graphic>
          <a:graphicData uri="http://schemas.openxmlformats.org/drawingml/2006/table">
            <a:tbl>
              <a:tblPr/>
              <a:tblGrid>
                <a:gridCol w="806450"/>
                <a:gridCol w="806450"/>
                <a:gridCol w="806450"/>
                <a:gridCol w="806450"/>
                <a:gridCol w="806450"/>
                <a:gridCol w="806450"/>
                <a:gridCol w="806450"/>
                <a:gridCol w="806450"/>
                <a:gridCol w="806450"/>
              </a:tblGrid>
              <a:tr h="202565">
                <a:tc gridSpan="9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產能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166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HBM/DRAM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HBM/DRAM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HBM/DRAM</a:t>
                      </a:r>
                      <a:b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193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320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40.0%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256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美光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63.6%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24.4%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256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35.5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48.8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59.3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9" name="Title 6"/>
          <p:cNvSpPr txBox="1"/>
          <p:nvPr>
            <p:custDataLst>
              <p:tags r:id="rId3"/>
            </p:custDataLst>
          </p:nvPr>
        </p:nvSpPr>
        <p:spPr>
          <a:xfrm>
            <a:off x="585470" y="318135"/>
            <a:ext cx="10873105" cy="70929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全球</a:t>
            </a:r>
            <a:r>
              <a:rPr altLang="zh-TW" sz="28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DRAM</a:t>
            </a:r>
            <a:r>
              <a:rPr lang="zh-TW" altLang="en-US" sz="28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产能</a:t>
            </a:r>
            <a:endParaRPr lang="zh-TW" altLang="en-US" sz="28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39710" y="1033145"/>
            <a:ext cx="4070350" cy="5405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2025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年三大砍掉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产能约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250k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，全面转入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，产能转换空窗期为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10~14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个月，造成美光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年产能不增反减。</a:t>
            </a:r>
            <a:endParaRPr 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部分厂家总产能不增反减，但产能从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转换至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，总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bit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出货是增长的，所以可以看到图二全球的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bit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增长高于产能增长，其中含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的又高于传统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图三为对应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出货力增长，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35.5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48.8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万片，年增率为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37.5%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根据台积电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产能增幅达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55%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来看，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的增幅只有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37.5%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以及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总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Bit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增幅只有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来看，不论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的扩产还是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的扩产都小于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芯片的出货需求。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可以看出三大原厂有意保守扩产以维持长期价格高位</a:t>
            </a: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85470" y="1027430"/>
          <a:ext cx="8918575" cy="4175760"/>
        </p:xfrm>
        <a:graphic>
          <a:graphicData uri="http://schemas.openxmlformats.org/drawingml/2006/table">
            <a:tbl>
              <a:tblPr/>
              <a:tblGrid>
                <a:gridCol w="1198880"/>
                <a:gridCol w="1198245"/>
                <a:gridCol w="1198880"/>
                <a:gridCol w="810260"/>
                <a:gridCol w="1198880"/>
                <a:gridCol w="912495"/>
                <a:gridCol w="2400935"/>
              </a:tblGrid>
              <a:tr h="520700">
                <a:tc gridSpan="7">
                  <a:txBody>
                    <a:bodyPr/>
                    <a:p>
                      <a:pPr algn="l" fontAlgn="ctr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2025-2027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三大原厂扩产进度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5504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工厂名称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投产时间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初期产能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(wkpm)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满产时间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满产产能</a:t>
                      </a:r>
                      <a:b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(wkpm)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产品定位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平泽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P4L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1c DRAM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HBM3E/HBM4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36512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平泽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P4L P2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1c DRAM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平泽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P5L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1c+/1d DRAM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HBM4E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3942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清州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M15X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年中期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1b/1c DRAM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HBM3E/HBM4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449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龙仁晶圆厂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1c DRAM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43942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美光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犹他州新厂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1β/1γ DRAM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HBM3E/HBM4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385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美光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博伊西新厂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1β DRAM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9" name="Title 6"/>
          <p:cNvSpPr txBox="1"/>
          <p:nvPr>
            <p:custDataLst>
              <p:tags r:id="rId2"/>
            </p:custDataLst>
          </p:nvPr>
        </p:nvSpPr>
        <p:spPr>
          <a:xfrm>
            <a:off x="585470" y="243205"/>
            <a:ext cx="10873105" cy="70929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三大</a:t>
            </a: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原厂扩产进度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5470" y="5203190"/>
            <a:ext cx="10038715" cy="1532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根据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TendFroce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统计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出货约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300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Gbit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300/8=37.5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GByte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，如果抓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24GB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为平均数，大约需要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1.56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亿颗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再根据台积电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CoWoS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今年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112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万片，每片平均切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颗计算，全球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芯片出货约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2240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万颗，每颗芯片平均需要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6.5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颗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，大约需要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1.45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亿颗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，这与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TendForce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反推的数值接近。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1.5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亿颗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，平均层数（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8+12)/2=10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DPW:550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，前段良率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75%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，封装良率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60%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，大约需要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606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wafer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（月产能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50.5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万片），根据上个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PPT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年三大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是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48.8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万片产能，所以供给端无法满足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的增长需求。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85470" y="1137285"/>
          <a:ext cx="7021830" cy="1339215"/>
        </p:xfrm>
        <a:graphic>
          <a:graphicData uri="http://schemas.openxmlformats.org/drawingml/2006/table">
            <a:tbl>
              <a:tblPr/>
              <a:tblGrid>
                <a:gridCol w="960120"/>
                <a:gridCol w="919480"/>
                <a:gridCol w="918845"/>
                <a:gridCol w="919480"/>
                <a:gridCol w="3303905"/>
              </a:tblGrid>
              <a:tr h="245110">
                <a:tc gridSpan="5"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价格预测（美元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/16Gb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颗粒）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产品类型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全年价格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全年价格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价格驱动因素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0576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DDR4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10~12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15-18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12-15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8~10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产能快速退出，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海力士全面停产，三星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月完成最后出货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DDR5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6~7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12~15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18~20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服务器需求激增，产能向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倾斜，供给缺口持续扩大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85470" y="2808605"/>
          <a:ext cx="7021830" cy="1356995"/>
        </p:xfrm>
        <a:graphic>
          <a:graphicData uri="http://schemas.openxmlformats.org/drawingml/2006/table">
            <a:tbl>
              <a:tblPr/>
              <a:tblGrid>
                <a:gridCol w="1233805"/>
                <a:gridCol w="975360"/>
                <a:gridCol w="890905"/>
                <a:gridCol w="956945"/>
                <a:gridCol w="2964815"/>
              </a:tblGrid>
              <a:tr h="221615">
                <a:tc gridSpan="5"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价格预测（美元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/GB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产品类型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全年价格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全年价格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价格驱动因素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HBM3E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8-Hi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14.6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20.3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供给短缺率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30%→2026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35%→2027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大客户锁死产能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12-Hi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（样品）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22.1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年下半年量产，带宽提升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、功耗降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，良率逐步提升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586105" y="4450715"/>
          <a:ext cx="7021195" cy="1819910"/>
        </p:xfrm>
        <a:graphic>
          <a:graphicData uri="http://schemas.openxmlformats.org/drawingml/2006/table">
            <a:tbl>
              <a:tblPr/>
              <a:tblGrid>
                <a:gridCol w="1499870"/>
                <a:gridCol w="991870"/>
                <a:gridCol w="992505"/>
                <a:gridCol w="992505"/>
                <a:gridCol w="1317625"/>
                <a:gridCol w="1226820"/>
              </a:tblGrid>
              <a:tr h="410845">
                <a:tc gridSpan="6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6885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年增长率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年增长率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3304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全球总计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3304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3304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DDR5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33045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DDR4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-25%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-20%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9" name="Title 6"/>
          <p:cNvSpPr txBox="1"/>
          <p:nvPr>
            <p:custDataLst>
              <p:tags r:id="rId4"/>
            </p:custDataLst>
          </p:nvPr>
        </p:nvSpPr>
        <p:spPr>
          <a:xfrm>
            <a:off x="585470" y="318770"/>
            <a:ext cx="10873105" cy="64325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与</a:t>
            </a: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价格走势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839710" y="1033145"/>
            <a:ext cx="4070350" cy="5405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2025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年三大完全放弃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产能，全球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在需求没有变化的情况下，因为供给瞬间下降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60%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以上导致价格暴涨，与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出现倒挂，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26H1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将达到价格高点，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26H2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从高点下滑，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年持续下滑但将维持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8~10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元的相对高位。</a:t>
            </a:r>
            <a:endParaRPr 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总产能扩充保守，并且大量产能被导入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的情况下，价格将逐年攀升，长期紧缺。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每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GB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价格并没有因为制程提升而下降，反而因为产能扩充有限而持续走高。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产值将翻倍超越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甚至与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DDR4+DDR5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的总产值齐平。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HBM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26/27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年增率分别为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100%/56%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在产能几乎没增长的情况下也将实现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36%/27%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的增长。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DDR4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价格虽能维持高档，但产能减少一半以上，总产值下降</a:t>
            </a: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86740" y="1052195"/>
          <a:ext cx="7332345" cy="1961515"/>
        </p:xfrm>
        <a:graphic>
          <a:graphicData uri="http://schemas.openxmlformats.org/drawingml/2006/table">
            <a:tbl>
              <a:tblPr/>
              <a:tblGrid>
                <a:gridCol w="692785"/>
                <a:gridCol w="782320"/>
                <a:gridCol w="858520"/>
                <a:gridCol w="744220"/>
                <a:gridCol w="4254500"/>
              </a:tblGrid>
              <a:tr h="348615">
                <a:tc gridSpan="5"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3D NANA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产能规划（万片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年产能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产能调整策略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5908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-4.5%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480-490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减产保价，优先生产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V-NAND 300+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层高端产品，退出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MLC NAND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市场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-10.5%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180-190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减产保价，聚焦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层及以上产品，资源向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倾斜（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DRAM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利润率更高）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5908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铠侠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+3.1%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175-180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投资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亿美元扩建日本四日市和岩手县晶圆厂，产能增长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5908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西数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闪迪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+3.3%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165-170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与铠侠联合研发，共享技术，优先满足数据中心和企业级市场需求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5908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全球总计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-3.2%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1000-1030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供给端收缩，价格上涨周期开启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86740" y="3173095"/>
          <a:ext cx="7294245" cy="1334135"/>
        </p:xfrm>
        <a:graphic>
          <a:graphicData uri="http://schemas.openxmlformats.org/drawingml/2006/table">
            <a:tbl>
              <a:tblPr/>
              <a:tblGrid>
                <a:gridCol w="996315"/>
                <a:gridCol w="919480"/>
                <a:gridCol w="1256030"/>
                <a:gridCol w="1268095"/>
                <a:gridCol w="2854325"/>
              </a:tblGrid>
              <a:tr h="281305">
                <a:tc gridSpan="5">
                  <a:txBody>
                    <a:bodyPr/>
                    <a:p>
                      <a:pPr algn="l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3D NAND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价格走势（美元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/128Gb)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351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年全年价格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年全年价格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价格驱动因素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3.5-4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6-7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+70-100%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7-8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+15-20%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减产保价，高端产品占比提升，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数据中心需求增长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3.2-3.8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5.5-6.5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+70-90%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6.5-7.5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+15-20%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减产保价，与三星同步策略，供给收缩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415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铠侠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3.0-3.6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5.0-6.0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+60-80%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6.0-7.0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+15-20%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产能扩张有限，市场份额稳定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18351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西数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闪迪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3.0-3.6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5.0-6.0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+60-80%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6.0-7.0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+15-20%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与铠侠联合定价，成本控制良好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custDataLst>
              <p:tags r:id="rId3"/>
            </p:custDataLst>
          </p:nvPr>
        </p:nvGraphicFramePr>
        <p:xfrm>
          <a:off x="586740" y="4666615"/>
          <a:ext cx="7335520" cy="1705610"/>
        </p:xfrm>
        <a:graphic>
          <a:graphicData uri="http://schemas.openxmlformats.org/drawingml/2006/table">
            <a:tbl>
              <a:tblPr/>
              <a:tblGrid>
                <a:gridCol w="1208405"/>
                <a:gridCol w="1208405"/>
                <a:gridCol w="1208405"/>
                <a:gridCol w="1208405"/>
                <a:gridCol w="1208405"/>
                <a:gridCol w="1293495"/>
              </a:tblGrid>
              <a:tr h="236855">
                <a:tc gridSpan="6"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NAND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产值预测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年增长率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年增长率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828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三星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580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48.60%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8280"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SK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海力士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11.10%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828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铠侠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10.30%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208915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西数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闪迪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47.40%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10.70%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08280"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全球总计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1360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47.80%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9" name="Title 6"/>
          <p:cNvSpPr txBox="1"/>
          <p:nvPr>
            <p:custDataLst>
              <p:tags r:id="rId4"/>
            </p:custDataLst>
          </p:nvPr>
        </p:nvSpPr>
        <p:spPr>
          <a:xfrm>
            <a:off x="586740" y="318770"/>
            <a:ext cx="10721340" cy="64325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3D NAND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产能与价格走势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57515" y="1118870"/>
            <a:ext cx="3852545" cy="5248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3D NANA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厂家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26/27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年没有太大扩产计划，以同等产能下提升层数为主要手段，说明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3D NAND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的供需逻辑与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DRAM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不同。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3D NAND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需求暴增以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带来的企业级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SSD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为主，消费级需求一般，所以原厂必须用更保守的扩产策略应对，让价格保持高位。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AI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带来的企业级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SSD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需求以提高制程水平以及提升层数为主要手段，不依赖扩产。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企业级价格有望翻倍，整体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NAND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价格涨幅在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60-80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％之间，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年维持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10-20%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涨幅，主要是以产能控制维持价格向上。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04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TW" altLang="en-US">
                <a:latin typeface="微软雅黑" charset="0"/>
                <a:ea typeface="微软雅黑" charset="0"/>
                <a:sym typeface="Arial" panose="020B0604020202090204" pitchFamily="34" charset="0"/>
              </a:rPr>
              <a:t>中国先进制程</a:t>
            </a:r>
            <a:endParaRPr lang="zh-TW" altLang="en-US"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8636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中国先进制程产能预测</a:t>
            </a: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-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逻辑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3585" y="6096635"/>
            <a:ext cx="7037070" cy="586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TW" altLang="en-US" sz="13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3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TW" altLang="en-US" sz="13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本产能预测全部基于公开讯息以及笔者长期建立的数据模型，并与不同时间的国产</a:t>
            </a:r>
            <a:r>
              <a:rPr lang="en-US" altLang="zh-TW" sz="13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7nm</a:t>
            </a:r>
            <a:r>
              <a:rPr lang="zh-TW" altLang="en-US" sz="13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芯片实际出货量不断印证与比对得出。未来扩产时间为笔者依照行业经验推测</a:t>
            </a:r>
            <a:endParaRPr lang="zh-TW" altLang="en-US" sz="13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734695" y="1018540"/>
          <a:ext cx="7037070" cy="4686300"/>
        </p:xfrm>
        <a:graphic>
          <a:graphicData uri="http://schemas.openxmlformats.org/drawingml/2006/table">
            <a:tbl>
              <a:tblPr/>
              <a:tblGrid>
                <a:gridCol w="959485"/>
                <a:gridCol w="1019810"/>
                <a:gridCol w="949960"/>
                <a:gridCol w="642620"/>
                <a:gridCol w="763905"/>
                <a:gridCol w="765175"/>
                <a:gridCol w="763905"/>
                <a:gridCol w="1172210"/>
              </a:tblGrid>
              <a:tr h="255270">
                <a:tc gridSpan="8"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中国先进制程产能预测 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 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逻辑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Company Name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Name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Plan Capacity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Node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REMARK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9225">
                <a:tc rowSpan="3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中芯国际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3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中芯南方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SN1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3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 7nm/N+2 </a:t>
                      </a:r>
                      <a:endParaRPr lang="en-US" altLang="zh-CN" sz="900" b="0" i="0">
                        <a:solidFill>
                          <a:srgbClr val="FF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年底迁移至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 7nm/N+3 </a:t>
                      </a:r>
                      <a:endParaRPr lang="en-US" altLang="zh-CN" sz="900" b="0" i="0">
                        <a:solidFill>
                          <a:srgbClr val="FF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年底迁移至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中芯国际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中芯南方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SN2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758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 7nm/N+2 </a:t>
                      </a:r>
                      <a:endParaRPr lang="en-US" altLang="zh-CN" sz="900" b="0" i="0">
                        <a:solidFill>
                          <a:srgbClr val="FF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7955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中芯国际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中芯京城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28nm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40,000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9860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中芯国际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中芯深圳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28nm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8590">
                <a:tc rowSpan="3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华力微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3"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3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45/28nm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98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92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</a:rPr>
                        <a:t> 7nm </a:t>
                      </a:r>
                      <a:endParaRPr lang="en-US" altLang="zh-CN" sz="900" b="0" i="0">
                        <a:solidFill>
                          <a:srgbClr val="FF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7462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鹏新旭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可能被收购 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7462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光茂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7526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光茂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B0F0"/>
                          </a:solidFill>
                          <a:latin typeface="微软雅黑"/>
                          <a:ea typeface="微软雅黑"/>
                        </a:rPr>
                        <a:t> 10nm </a:t>
                      </a:r>
                      <a:endParaRPr lang="en-US" altLang="zh-CN" sz="900" b="0" i="0">
                        <a:solidFill>
                          <a:srgbClr val="00B0F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年底迁移至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7nm N+1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7526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ICRD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嘉定三期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上海光通信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28nm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9225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上海光通信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B0F0"/>
                          </a:solidFill>
                          <a:latin typeface="微软雅黑"/>
                          <a:ea typeface="微软雅黑"/>
                        </a:rPr>
                        <a:t> 10nm </a:t>
                      </a:r>
                      <a:endParaRPr lang="en-US" altLang="zh-CN" sz="900" b="0" i="0">
                        <a:solidFill>
                          <a:srgbClr val="00B0F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10,000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年底迁移至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7nm N+1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7955">
                <a:tc rowSpan="2"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芯恩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2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28nm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可能被收购 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92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14/12nm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5,000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可能被收购 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4922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永芯（北京）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4859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楚芯（武汉弘芯）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-  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685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Sum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14~7nm)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不计入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28nm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9685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Sum ( 7nm)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65,000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057515" y="1018540"/>
            <a:ext cx="3852545" cy="4956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2025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年全国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25k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年中可达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35k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年有望达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65k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以上为理论产能，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均为多曝工艺实际产能大约为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80%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笔者预计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大幅度扩产是以进口设备为基础，与国产互为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back up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进而提升产能，主要是美系设备的突破。光刻机因为可买到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1980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等先进型号，国产要达到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1980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水平得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2030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年以后。</a:t>
            </a:r>
            <a:endParaRPr lang="en-US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华力微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厂有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的实验室等级产能，目前已给国内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厂家出货并有多家流片中，但都以初创企业为主不会有量，刚好符合其实验线的小产能，未来须等到</a:t>
            </a:r>
            <a:r>
              <a:rPr lang="en-US" altLang="zh-TW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3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年的国产突破才会能增加些许产能。</a:t>
            </a:r>
            <a:endParaRPr lang="zh-TW" altLang="en-US" sz="13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3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8813" y="8636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中国先进制程预测</a:t>
            </a: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-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存储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130" y="4688840"/>
            <a:ext cx="9886315" cy="1927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indent="-285750">
              <a:buFont typeface="Wingdings" panose="05000000000000000000" charset="0"/>
              <a:buChar char=""/>
            </a:pP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1: CXMT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经过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年大幅度扩产，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2026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300k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全部投产，正好遇到存储大周期，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2026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年在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DDR4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价格比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DDR5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高的情况下，可大量生产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DDR4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，并不断提升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DDR5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颗粒的良率以及投入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G4+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以及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4F2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结构研发，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HBM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方面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2026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年以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HBM2E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为主，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2027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年推进到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HBM3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，开始收获国产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芯片订单，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2026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年大概率会公布新地块为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2029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年以后的新产能拿地。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endParaRPr lang="en-US" altLang="zh-TW" sz="14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endParaRPr lang="en-US" altLang="zh-TW" sz="14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2: YMTC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三期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2025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MEP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机电发包，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2026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3-4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月份订购第一批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40k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设备，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2027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年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Q2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封顶并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move in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，并订购第二批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60k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设备，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2027Q4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通线试生产，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2028Q2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正式量产。</a:t>
            </a:r>
            <a:endParaRPr lang="zh-TW" altLang="en-US" sz="14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zh-TW" altLang="en-US" sz="14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YMTC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三期设备国产化率有望突破</a:t>
            </a:r>
            <a:r>
              <a:rPr lang="en-US" altLang="zh-TW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60%</a:t>
            </a:r>
            <a:r>
              <a:rPr lang="zh-TW" altLang="en-US" sz="14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，达成先进制程，整線國產化率突破一半的新里程碑</a:t>
            </a:r>
            <a:endParaRPr lang="zh-TW" altLang="en-US" sz="14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659130" y="1035050"/>
          <a:ext cx="9886315" cy="3587750"/>
        </p:xfrm>
        <a:graphic>
          <a:graphicData uri="http://schemas.openxmlformats.org/drawingml/2006/table">
            <a:tbl>
              <a:tblPr/>
              <a:tblGrid>
                <a:gridCol w="1189355"/>
                <a:gridCol w="1278255"/>
                <a:gridCol w="1189990"/>
                <a:gridCol w="805180"/>
                <a:gridCol w="956945"/>
                <a:gridCol w="957580"/>
                <a:gridCol w="957580"/>
                <a:gridCol w="2551430"/>
              </a:tblGrid>
              <a:tr h="289560">
                <a:tc gridSpan="8">
                  <a:txBody>
                    <a:bodyPr/>
                    <a:p>
                      <a:pPr algn="l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中国先进制程产能预测 </a:t>
                      </a: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 </a:t>
                      </a:r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存储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1315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Company Name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Name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Plan Capacity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Node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Capacity</a:t>
                      </a:r>
                      <a:b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REMARK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4892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升维旭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深圳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1y/1z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可能被收购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福建晋华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泉州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1y/1z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7325">
                <a:tc rowSpan="6"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合肥长鑫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A1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合肥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2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A3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年动土须在空港经济示范区拿新地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003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A2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合肥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G3/G4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66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C1 P1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北京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rowSpan="3"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北京目前没有再拿地，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目前地块已饱和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C1 P2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北京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30000+40000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1866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C1 P2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扩增 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G4+ R&amp;D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295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芯埔天英 上海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(HBM 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TSV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二期预计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年动土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量产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33680">
                <a:tc rowSpan="4"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长江存储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128/178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3"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4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年动土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年量产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2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64/128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18669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3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2XX / 2YY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XMC  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武汉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(HBM)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TSV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二期预计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年动土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2029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量产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2415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Sum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570,000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780,000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560,000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640,000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740,000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2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8636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各厂产能与对应营收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659765" y="995680"/>
            <a:ext cx="6576695" cy="47891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451090" y="896620"/>
            <a:ext cx="4458970" cy="560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本表罗列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各厂工艺节点与产能，并计算出满产状况下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的营收，可以很好判断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的产能与营收对应实况。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2025Q3 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公布产能突破百万（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8”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约当量），达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/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月，从表格中会发现，南方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SN2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，中芯东方，中芯深圳，西青与京城多个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年已经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move in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设备的工厂，有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的产能均未开出，如果这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产能开出产能将来到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140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万片，但官方只公布了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万片。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上述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设备均为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28nm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年已到货多年一直未开出产能，并转固定资产进行折旧，导致财报上在建工程数年来快速攀升。</a:t>
            </a:r>
            <a:endParaRPr 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从营收数据测算，不含囤积的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所有工厂满产年营收可达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亿美元，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2025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Q3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财报公布稼动为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95%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，全年大约为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95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亿营收，从营收来反推，也完全证实有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产能被隐匿。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說明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5: SN2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約有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10k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理論產能在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年開出，這部分將是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新增營收，估計可帶來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～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11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億美元營收增量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765" y="86360"/>
            <a:ext cx="10873105" cy="71501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 N+1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出货预测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9765" y="6173470"/>
            <a:ext cx="6609080" cy="658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本出貨预测全部基于公开讯息以及笔者长期建立的数据模型，並從歷史實際出貨追蹤整理的推算</a:t>
            </a:r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zh-TW" altLang="en-US" sz="120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883920"/>
            <a:ext cx="6609080" cy="520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7451090" y="883920"/>
            <a:ext cx="445897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年开始采用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制程的国产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芯片将大量出货，目前已降低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die size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至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400mm2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并采用双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die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合封的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D2D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方案为主，</a:t>
            </a:r>
            <a:r>
              <a:rPr 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Ascend 950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以及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MLU690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均为此方案。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年平头哥，崑仑芯，字节等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CSP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采用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制程的自研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ASIC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出货会比摩尔线程，沐曦，天数等第二梯队的第三方芯片公司拿下更多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产能，未来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产能将以头部第三方（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ascend&amp;mlu)+CSP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自研为主。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2028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年的新一代国产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芯片将可达到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650mm2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以上的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D2D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方案（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亿晶体管），或者是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400mm2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 die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方案（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～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1100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亿晶体管）。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与之对比的是英伟达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年推出的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hopper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的晶体管数量为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亿晶体管，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推出的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blackwell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2080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亿晶体管，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年推出的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rubin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3300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rubin ultra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 die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方案晶体管数量为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6600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feynman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8500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亿＋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在全新一代国产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芯片推出，也就是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之前，美国同意对我销售的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亿晶体管的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H200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都将是最好的选择</a:t>
            </a:r>
            <a:endParaRPr 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575310" y="86360"/>
            <a:ext cx="10873105" cy="71564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 N+2/N+3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出货预测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5310" y="5968365"/>
            <a:ext cx="6028055" cy="71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本出货预测全部基于公开讯息以及笔者长期建立的数据模型，并从历史实际出货追踪整理的推算。</a:t>
            </a:r>
            <a:endParaRPr lang="zh-TW" altLang="en-US" sz="120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73240" y="1062990"/>
            <a:ext cx="4799965" cy="4644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之前未计算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kirin 8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系列以及麒麟海外市场销量，已更新并加入后新模型。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年的麒麟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9040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继续采用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MTr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约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115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N+3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制程。</a:t>
            </a:r>
            <a:endParaRPr 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N+4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可能于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年推出，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MTr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预计为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130～135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左右，接近三星第一代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5nm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水平，但与台积电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150~180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5nm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还是有较大差距。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N+2/N+3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制程的绝对出货主力为麒麟芯片，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2025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年华为手机国内销量持平约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4600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万，海外出现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1500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万左右的销售佳绩，全年达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6000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万部。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预计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年全球销量在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6200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万部左右，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年因芯片与主流差距越来越大，销量可能出现持平或微幅下滑。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5: N+2/N+3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的出货与华为手机销量息息相关，因为其他国内应用对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N+2/N+3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的产能起不了太大作用。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endParaRPr 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2"/>
            </p:custDataLst>
          </p:nvPr>
        </p:nvGraphicFramePr>
        <p:xfrm>
          <a:off x="575310" y="982980"/>
          <a:ext cx="6196330" cy="4879975"/>
        </p:xfrm>
        <a:graphic>
          <a:graphicData uri="http://schemas.openxmlformats.org/drawingml/2006/table">
            <a:tbl>
              <a:tblPr/>
              <a:tblGrid>
                <a:gridCol w="572135"/>
                <a:gridCol w="975360"/>
                <a:gridCol w="820420"/>
                <a:gridCol w="607695"/>
                <a:gridCol w="529590"/>
                <a:gridCol w="529590"/>
                <a:gridCol w="573405"/>
                <a:gridCol w="529590"/>
                <a:gridCol w="528955"/>
                <a:gridCol w="529590"/>
              </a:tblGrid>
              <a:tr h="319405">
                <a:tc gridSpan="5"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N+2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制程各年度出货预测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出货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芯片型号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代工厂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芯片模式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kirin 8 series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mobile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748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kirin 9 series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mobile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kirin 9000E/9000L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mobile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鲲鹏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 series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CPU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鲲鹏 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 series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CPU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0734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天罡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华为关联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 14nm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基站主控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龙芯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3B66/7000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CPU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748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飞腾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S500C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CPU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兆芯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RX-7000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CPU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0734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海光 四号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四号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SMIC/Samsung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芯擎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龙鹰一号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智能座舱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875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芯擎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星辰一号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ADAS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939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黑芝麻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A2000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智能座舱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663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Ascend 960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(2028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推出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 die 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400mm2+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8120">
                <a:tc gridSpan="5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3787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5505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4622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4322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</a:tr>
              <a:tr h="199390">
                <a:tc gridSpan="5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N+2 total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3562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5255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4332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3982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</a:tr>
              <a:tr h="199390">
                <a:tc gridSpan="5"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N+3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制程各年度出货预测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出货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9812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厂家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芯片型号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代工厂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芯片模式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应用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9812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Hisilicon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kirin 9030/9040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mobile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99390">
                <a:tc gridSpan="5"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N+3 total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CB9CA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8636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 7nm </a:t>
            </a:r>
            <a:r>
              <a:rPr lang="zh-TW" altLang="en-US" sz="28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出货预估</a:t>
            </a:r>
            <a:endParaRPr lang="zh-TW" altLang="en-US" sz="28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3585" y="5999480"/>
            <a:ext cx="5575300" cy="71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备注</a:t>
            </a:r>
            <a:r>
              <a:rPr lang="en-US" altLang="zh-TW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1. </a:t>
            </a:r>
            <a:r>
              <a:rPr lang="zh-TW" altLang="en-US" sz="120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本出货预测全部基于公开讯息以及笔者长期建立的数据模型，并从历史实际出货追踪整理的推算。</a:t>
            </a:r>
            <a:endParaRPr lang="zh-TW" altLang="en-US" sz="120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743585" y="1046480"/>
          <a:ext cx="5575935" cy="4756785"/>
        </p:xfrm>
        <a:graphic>
          <a:graphicData uri="http://schemas.openxmlformats.org/drawingml/2006/table">
            <a:tbl>
              <a:tblPr/>
              <a:tblGrid>
                <a:gridCol w="1389380"/>
                <a:gridCol w="837565"/>
                <a:gridCol w="836930"/>
                <a:gridCol w="837565"/>
                <a:gridCol w="836930"/>
                <a:gridCol w="837565"/>
              </a:tblGrid>
              <a:tr h="224790">
                <a:tc gridSpan="6"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芯片出货量与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产能测算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N+1/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万颗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diz size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DPW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良率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0-20%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所需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月产能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/kwpm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2.6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5.3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N+2/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万颗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2090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3562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5255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4332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4182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diz size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7960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DPW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良率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73%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所需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14.3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月产能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/kwpm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18.2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11.9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N+3/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万颗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986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diz size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DPW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良率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55%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所需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月产能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/kwpm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5.3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endParaRPr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  <a:tr h="189230">
                <a:tc>
                  <a:txBody>
                    <a:bodyPr/>
                    <a:p>
                      <a:pPr algn="l" fontAlgn="ctr"/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所需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wafer/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万片</a:t>
                      </a:r>
                      <a:endParaRPr lang="zh-CN" altLang="en-US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16.5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23.0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26.1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27.2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188595">
                <a:tc>
                  <a:txBody>
                    <a:bodyPr/>
                    <a:p>
                      <a:pPr algn="l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7nm</a:t>
                      </a:r>
                      <a:r>
                        <a:rPr lang="zh-CN" altLang="en-US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月产能</a:t>
                      </a:r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10.4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19.2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21.8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22.7 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732905" y="1019175"/>
            <a:ext cx="4799965" cy="5432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</a:t>
            </a:r>
            <a:r>
              <a:rPr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:</a:t>
            </a:r>
            <a:r>
              <a:rPr 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计算公式为导入之前的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N+1~N+3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所有国产芯片的出货量，根据芯片出货颗数，以平均的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die size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算出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DPW*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良率，得出每片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wafer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可以生产几颗芯片，在用总出货颗数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/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每片颗数，得出需要的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wafer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数量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/12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个月得出月产能。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2: N+1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出货以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芯片为主，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之前以台积电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die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为主，只有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万颗国产，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年将暴涨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倍至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年继续暴涨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倍多到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400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万颗，不过对应的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产能只需要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5.3k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en-US" sz="11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3: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如果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年国产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4die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方案推出，那将需要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万颗产能需要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10k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4: 4 die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方案的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芯片推出，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2030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的产能需求大约会有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，根据之前的模型，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将有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30k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新产能开出，，即便晚一年开出也能符合，国产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的爆发。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5: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根据前面模型，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年国产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产能将达到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35k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年有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65k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，而本模型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2026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的实际需求只要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21.8k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22.7k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即可满足，代表产能还有部分富裕，如果良率继续提升，产能富裕度将更高。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说明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6: 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从需求来看，不论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SMIC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或者其他国产</a:t>
            </a:r>
            <a:r>
              <a:rPr lang="en-US" altLang="zh-TW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7nm</a:t>
            </a:r>
            <a:r>
              <a:rPr lang="zh-TW" altLang="en-US" sz="1100" spc="50" noProof="0" dirty="0">
                <a:ln w="3175">
                  <a:noFill/>
                  <a:prstDash val="dash"/>
                </a:ln>
                <a:solidFill>
                  <a:schemeClr val="accent5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产能需求都是稳步上升，未来并不会有大爆发的时候</a:t>
            </a:r>
            <a:endParaRPr lang="zh-TW" altLang="en-US" sz="1100" spc="50" noProof="0" dirty="0">
              <a:ln w="3175">
                <a:noFill/>
                <a:prstDash val="dash"/>
              </a:ln>
              <a:solidFill>
                <a:schemeClr val="accent5">
                  <a:lumMod val="40000"/>
                  <a:lumOff val="60000"/>
                </a:schemeClr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Char char=""/>
            </a:pPr>
            <a:endParaRPr lang="en-US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Wingdings" panose="05000000000000000000" charset="0"/>
              <a:buNone/>
            </a:pPr>
            <a:endParaRPr lang="en-US" altLang="zh-TW" sz="11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422910" y="556260"/>
            <a:ext cx="5511165" cy="144589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4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本报告均根据公开资料进行预测，</a:t>
            </a:r>
            <a:endParaRPr lang="zh-TW" altLang="en-US" sz="24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4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预测数据仅供参考，</a:t>
            </a:r>
            <a:endParaRPr lang="zh-TW" altLang="en-US" sz="24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24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后续持续更新</a:t>
            </a:r>
            <a:endParaRPr lang="zh-TW" altLang="en-US" sz="24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45" y="556895"/>
            <a:ext cx="5371465" cy="59664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BK_DARK_LIGHT" val="1"/>
</p:tagLst>
</file>

<file path=ppt/tags/tag7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UNIT_BK_DARK_LIGHT" val="1"/>
</p:tagLst>
</file>

<file path=ppt/tags/tag8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UNIT_BK_DARK_LIGHT" val="1"/>
</p:tagLst>
</file>

<file path=ppt/tags/tag9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K_DARK_LIGHT" val="1"/>
  <p:tag name="KSO_WM_UNIT_BK_DARK_LIGHT" val="1"/>
</p:tagLst>
</file>

<file path=ppt/tags/tag103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1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UNIT_BK_DARK_LIGHT" val="1"/>
</p:tagLst>
</file>

<file path=ppt/tags/tag11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UNIT_BK_DARK_LIGHT" val="1"/>
</p:tagLst>
</file>

<file path=ppt/tags/tag12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29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29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TEMPLATE_SUBCATEGORY" val="0"/>
  <p:tag name="KSO_WM_TEMPLATE_COLOR_TYPE" val="1"/>
  <p:tag name="KSO_WM_TAG_VERSION" val="1.0"/>
  <p:tag name="KSO_WM_BEAUTIFY_FLAG" val="#wm#"/>
  <p:tag name="KSO_WM_TEMPLATE_CATEGORY" val="custom"/>
  <p:tag name="KSO_WM_TEMPLATE_INDEX" val="20205291"/>
  <p:tag name="KSO_WM_TEMPLATE_MASTER_TYPE" val="1"/>
  <p:tag name="KSO_WM_TEMPLATE_THUMBS_INDEX" val="1、4、7、8、9、12、15、16、17、18、19、20、21、22、24"/>
  <p:tag name="KSO_WM_TEMPLATE_MASTER_THUMB_INDEX" val="1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5291_1*i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蓝色渐变通用PP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1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291_1*b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ID" val="custom20205291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291"/>
  <p:tag name="KSO_WM_SLIDE_LAYOUT" val="a_b"/>
  <p:tag name="KSO_WM_SLIDE_LAYOUT_CNT" val="1_1"/>
  <p:tag name="KSO_WM_TEMPLATE_THUMBS_INDEX" val="1、4、7、8、9、12、15、16、17、18、19、20、21、22、24"/>
  <p:tag name="KSO_WM_TEMPLATE_MASTER_THUMB_INDEX" val="1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5291_5*l_h_i*1_1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205291_5*l_h_a*1_1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5291_5*l_h_i*1_2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205291_5*l_h_a*1_2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5291_5*l_h_i*1_3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205291_5*l_h_a*1_3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5291_5*l_h_i*1_4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205291_5*l_h_a*1_4_1"/>
  <p:tag name="KSO_WM_TEMPLATE_CATEGORY" val="custom"/>
  <p:tag name="KSO_WM_TEMPLATE_INDEX" val="20205291"/>
  <p:tag name="KSO_WM_UNIT_LAYERLEVEL" val="1_1_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  <p:tag name="KSO_WM_DIAGRAM_VIRTUALLY_FRAME" val="{&quot;height&quot;:240.55,&quot;left&quot;:87,&quot;top&quot;:219.95,&quot;width&quot;:615.15}"/>
</p:tagLst>
</file>

<file path=ppt/tags/tag14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5291_5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5291_5*b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0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SLIDE_ID" val="custom20205291_5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b_l"/>
  <p:tag name="KSO_WM_SLIDE_LAYOUT_CNT" val="1_1_1"/>
</p:tagLst>
</file>

<file path=ppt/tags/tag149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52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TABLE_ENDDRAG_ORIGIN_RECT" val="612*329"/>
  <p:tag name="TABLE_ENDDRAG_RECT" val="47*95*612*329"/>
</p:tagLst>
</file>

<file path=ppt/tags/tag154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55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TABLE_ENDDRAG_ORIGIN_RECT" val="546*395"/>
  <p:tag name="TABLE_ENDDRAG_RECT" val="43*68*546*395"/>
</p:tagLst>
</file>

<file path=ppt/tags/tag157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58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TABLE_ENDDRAG_ORIGIN_RECT" val="802*248"/>
  <p:tag name="TABLE_ENDDRAG_RECT" val="64*129*802*248"/>
</p:tagLst>
</file>

<file path=ppt/tags/tag160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61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TABLE_ENDDRAG_ORIGIN_RECT" val="581*388"/>
  <p:tag name="TABLE_ENDDRAG_RECT" val="43*101*581*388"/>
</p:tagLst>
</file>

<file path=ppt/tags/tag163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64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67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8.xml><?xml version="1.0" encoding="utf-8"?>
<p:tagLst xmlns:p="http://schemas.openxmlformats.org/presentationml/2006/main">
  <p:tag name="TABLE_ENDDRAG_ORIGIN_RECT" val="635*405"/>
  <p:tag name="TABLE_ENDDRAG_RECT" val="63*87*635*405"/>
</p:tagLst>
</file>

<file path=ppt/tags/tag169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70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TABLE_ENDDRAG_ORIGIN_RECT" val="499*444"/>
  <p:tag name="TABLE_ENDDRAG_RECT" val="323*47*499*444"/>
</p:tagLst>
</file>

<file path=ppt/tags/tag172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73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76.xml><?xml version="1.0" encoding="utf-8"?>
<p:tagLst xmlns:p="http://schemas.openxmlformats.org/presentationml/2006/main">
  <p:tag name="TABLE_ENDDRAG_ORIGIN_RECT" val="523*99"/>
  <p:tag name="TABLE_ENDDRAG_RECT" val="101*86*523*99"/>
</p:tagLst>
</file>

<file path=ppt/tags/tag177.xml><?xml version="1.0" encoding="utf-8"?>
<p:tagLst xmlns:p="http://schemas.openxmlformats.org/presentationml/2006/main">
  <p:tag name="TABLE_ENDDRAG_ORIGIN_RECT" val="571*125"/>
  <p:tag name="TABLE_ENDDRAG_RECT" val="100*295*571*125"/>
</p:tagLst>
</file>

<file path=ppt/tags/tag178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80.xml><?xml version="1.0" encoding="utf-8"?>
<p:tagLst xmlns:p="http://schemas.openxmlformats.org/presentationml/2006/main">
  <p:tag name="TABLE_ENDDRAG_ORIGIN_RECT" val="663*261"/>
  <p:tag name="TABLE_ENDDRAG_RECT" val="176*177*663*261"/>
</p:tagLst>
</file>

<file path=ppt/tags/tag181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83.xml><?xml version="1.0" encoding="utf-8"?>
<p:tagLst xmlns:p="http://schemas.openxmlformats.org/presentationml/2006/main">
  <p:tag name="TABLE_ENDDRAG_ORIGIN_RECT" val="552*114"/>
  <p:tag name="TABLE_ENDDRAG_RECT" val="61*75*552*114"/>
</p:tagLst>
</file>

<file path=ppt/tags/tag184.xml><?xml version="1.0" encoding="utf-8"?>
<p:tagLst xmlns:p="http://schemas.openxmlformats.org/presentationml/2006/main">
  <p:tag name="TABLE_ENDDRAG_ORIGIN_RECT" val="552*69"/>
  <p:tag name="TABLE_ENDDRAG_RECT" val="61*250*552*69"/>
</p:tagLst>
</file>

<file path=ppt/tags/tag185.xml><?xml version="1.0" encoding="utf-8"?>
<p:tagLst xmlns:p="http://schemas.openxmlformats.org/presentationml/2006/main">
  <p:tag name="TABLE_ENDDRAG_ORIGIN_RECT" val="552*143"/>
  <p:tag name="TABLE_ENDDRAG_RECT" val="61*352*552*143"/>
</p:tagLst>
</file>

<file path=ppt/tags/tag186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87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88.xml><?xml version="1.0" encoding="utf-8"?>
<p:tagLst xmlns:p="http://schemas.openxmlformats.org/presentationml/2006/main">
  <p:tag name="TABLE_ENDDRAG_ORIGIN_RECT" val="577*154"/>
  <p:tag name="TABLE_ENDDRAG_RECT" val="46*82*577*154"/>
</p:tagLst>
</file>

<file path=ppt/tags/tag189.xml><?xml version="1.0" encoding="utf-8"?>
<p:tagLst xmlns:p="http://schemas.openxmlformats.org/presentationml/2006/main">
  <p:tag name="TABLE_ENDDRAG_ORIGIN_RECT" val="570*89"/>
  <p:tag name="TABLE_ENDDRAG_RECT" val="58*239*570*89"/>
</p:tagLst>
</file>

<file path=ppt/tags/tag190.xml><?xml version="1.0" encoding="utf-8"?>
<p:tagLst xmlns:p="http://schemas.openxmlformats.org/presentationml/2006/main">
  <p:tag name="TABLE_ENDDRAG_ORIGIN_RECT" val="570*134"/>
  <p:tag name="TABLE_ENDDRAG_RECT" val="58*380*570*134"/>
</p:tagLst>
</file>

<file path=ppt/tags/tag191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93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96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TABLE_ENDDRAG_ORIGIN_RECT" val="695*402"/>
  <p:tag name="TABLE_ENDDRAG_RECT" val="58*80*695*402"/>
</p:tagLst>
</file>

<file path=ppt/tags/tag198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99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TABLE_ENDDRAG_ORIGIN_RECT" val="693*290"/>
  <p:tag name="TABLE_ENDDRAG_RECT" val="58*89*693*290"/>
</p:tagLst>
</file>

<file path=ppt/tags/tag201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02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04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06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07.xml><?xml version="1.0" encoding="utf-8"?>
<p:tagLst xmlns:p="http://schemas.openxmlformats.org/presentationml/2006/main">
  <p:tag name="TABLE_ENDDRAG_ORIGIN_RECT" val="487*384"/>
  <p:tag name="TABLE_ENDDRAG_RECT" val="45*77*487*384"/>
</p:tagLst>
</file>

<file path=ppt/tags/tag208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09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10.xml><?xml version="1.0" encoding="utf-8"?>
<p:tagLst xmlns:p="http://schemas.openxmlformats.org/presentationml/2006/main">
  <p:tag name="TABLE_ENDDRAG_ORIGIN_RECT" val="439*374"/>
  <p:tag name="TABLE_ENDDRAG_RECT" val="58*82*439*374"/>
</p:tagLst>
</file>

<file path=ppt/tags/tag211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12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213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214.xml><?xml version="1.0" encoding="utf-8"?>
<p:tagLst xmlns:p="http://schemas.openxmlformats.org/presentationml/2006/main">
  <p:tag name="commondata" val="eyJoZGlkIjoiZmRmNmVhYzY4NzE5OWI5YTAyMDYyODY4ZWYwZTVhMTkifQ=="/>
</p:tagLst>
</file>

<file path=ppt/theme/theme1.xml><?xml version="1.0" encoding="utf-8"?>
<a:theme xmlns:a="http://schemas.openxmlformats.org/drawingml/2006/main" name="1_Office 主题​​">
  <a:themeElements>
    <a:clrScheme name="自定义 9">
      <a:dk1>
        <a:sysClr val="windowText" lastClr="000000"/>
      </a:dk1>
      <a:lt1>
        <a:sysClr val="window" lastClr="FFFFFF"/>
      </a:lt1>
      <a:dk2>
        <a:srgbClr val="45527B"/>
      </a:dk2>
      <a:lt2>
        <a:srgbClr val="FFFFFF"/>
      </a:lt2>
      <a:accent1>
        <a:srgbClr val="4F68AC"/>
      </a:accent1>
      <a:accent2>
        <a:srgbClr val="4E76A8"/>
      </a:accent2>
      <a:accent3>
        <a:srgbClr val="4D84A4"/>
      </a:accent3>
      <a:accent4>
        <a:srgbClr val="4D939F"/>
      </a:accent4>
      <a:accent5>
        <a:srgbClr val="4CA19B"/>
      </a:accent5>
      <a:accent6>
        <a:srgbClr val="EDB11B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18406</Words>
  <Application>WPS 表格</Application>
  <PresentationFormat>宽屏</PresentationFormat>
  <Paragraphs>3952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</vt:lpstr>
      <vt:lpstr>汉仪旗黑-85S</vt:lpstr>
      <vt:lpstr>汉仪中黑KW</vt:lpstr>
      <vt:lpstr>Segoe UI</vt:lpstr>
      <vt:lpstr>微软雅黑</vt:lpstr>
      <vt:lpstr>微软雅黑</vt:lpstr>
      <vt:lpstr>Wingdings</vt:lpstr>
      <vt:lpstr>宋体</vt:lpstr>
      <vt:lpstr>Arial Unicode MS</vt:lpstr>
      <vt:lpstr>Calibri</vt:lpstr>
      <vt:lpstr>汉仪书宋二KW</vt:lpstr>
      <vt:lpstr>汉仪旗黑-85S</vt:lpstr>
      <vt:lpstr>Apple Color Emoji</vt:lpstr>
      <vt:lpstr>1_Office 主题​​</vt:lpstr>
      <vt:lpstr>全球半导体展望</vt:lpstr>
      <vt:lpstr>PowerPoint 演示文稿</vt:lpstr>
      <vt:lpstr>台积电26&amp;27展望</vt:lpstr>
      <vt:lpstr>PowerPoint 演示文稿</vt:lpstr>
      <vt:lpstr>PowerPoint 演示文稿</vt:lpstr>
      <vt:lpstr>PowerPoint 演示文稿</vt:lpstr>
      <vt:lpstr>PowerPoint 演示文稿</vt:lpstr>
      <vt:lpstr>台积电CoWoS与AI</vt:lpstr>
      <vt:lpstr>PowerPoint 演示文稿</vt:lpstr>
      <vt:lpstr>PowerPoint 演示文稿</vt:lpstr>
      <vt:lpstr>全球存储</vt:lpstr>
      <vt:lpstr>PowerPoint 演示文稿</vt:lpstr>
      <vt:lpstr>PowerPoint 演示文稿</vt:lpstr>
      <vt:lpstr>PowerPoint 演示文稿</vt:lpstr>
      <vt:lpstr>PowerPoint 演示文稿</vt:lpstr>
      <vt:lpstr>中国先进制程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 Book</dc:creator>
  <cp:lastModifiedBy>lesliewu</cp:lastModifiedBy>
  <cp:revision>56</cp:revision>
  <dcterms:created xsi:type="dcterms:W3CDTF">2026-02-01T19:02:40Z</dcterms:created>
  <dcterms:modified xsi:type="dcterms:W3CDTF">2026-02-01T19:02:40Z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FA53E576AC8332468EFD7E69C8B80D38_43</vt:lpwstr>
  </property>
  <property fmtid="{D5CDD505-2E9C-101B-9397-08002B2CF9AE}" pid="3" name="KSOProductBuildVer">
    <vt:lpwstr>2052-6.12.1.8902</vt:lpwstr>
  </property>
</Properties>
</file>